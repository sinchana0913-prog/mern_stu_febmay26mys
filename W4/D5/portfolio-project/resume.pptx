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69" r:id="rId2"/>
    <p:sldId id="270" r:id="rId3"/>
    <p:sldId id="280" r:id="rId4"/>
    <p:sldId id="257" r:id="rId5"/>
    <p:sldId id="264" r:id="rId6"/>
    <p:sldId id="258" r:id="rId7"/>
    <p:sldId id="259" r:id="rId8"/>
    <p:sldId id="265" r:id="rId9"/>
    <p:sldId id="262" r:id="rId10"/>
    <p:sldId id="263" r:id="rId11"/>
    <p:sldId id="267" r:id="rId12"/>
    <p:sldId id="274" r:id="rId13"/>
    <p:sldId id="272" r:id="rId14"/>
    <p:sldId id="281" r:id="rId15"/>
    <p:sldId id="290" r:id="rId16"/>
    <p:sldId id="283" r:id="rId17"/>
    <p:sldId id="292" r:id="rId18"/>
    <p:sldId id="293" r:id="rId19"/>
    <p:sldId id="284" r:id="rId20"/>
    <p:sldId id="288" r:id="rId21"/>
    <p:sldId id="287" r:id="rId22"/>
    <p:sldId id="29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102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72" y="2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53AC2-3A93-4D27-90A2-83DC39B46ED0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BB65E-7B96-4A54-BD43-CF399CC0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206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BB65E-7B96-4A54-BD43-CF399CC0993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746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BB65E-7B96-4A54-BD43-CF399CC0993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423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BB65E-7B96-4A54-BD43-CF399CC0993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321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BB65E-7B96-4A54-BD43-CF399CC0993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996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BB65E-7B96-4A54-BD43-CF399CC0993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712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BB65E-7B96-4A54-BD43-CF399CC0993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481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5054D6-B958-1904-FBD8-62C9C0503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31074"/>
            <a:ext cx="10476411" cy="2268583"/>
          </a:xfrm>
        </p:spPr>
        <p:txBody>
          <a:bodyPr/>
          <a:lstStyle/>
          <a:p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VISVESVARAYA TECHNOLOGICAL UNIVERSITY JNANASANGAMA, BELAGAVI </a:t>
            </a:r>
            <a:br>
              <a:rPr lang="en-US" sz="2800" b="1" dirty="0">
                <a:solidFill>
                  <a:srgbClr val="0070C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</a:br>
            <a: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CAUVERY INSTITUTE OF TECHNOLOGY, MANDYA</a:t>
            </a:r>
            <a:b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</a:br>
            <a:b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</a:br>
            <a:endParaRPr lang="en-IN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7A754-57BE-8E3C-06FB-F7ABAF46C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10" y="2293257"/>
            <a:ext cx="10938241" cy="4165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Roboto Light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Roboto Light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Roboto Light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Roboto Light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  <a:t>Two Way Communication System for Deaf and Dumb People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ambria Math" pitchFamily="18" charset="0"/>
              <a:ea typeface="Cambria Math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Roboto Light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PRESENTED BY                                                                                                                            UNDER THE GUIDANCE OF</a:t>
            </a:r>
            <a:endParaRPr lang="en-US" sz="16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SINCHANA                       </a:t>
            </a:r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(4CA22CS099)                       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                                                                                          Prof. SAHANA G C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 SOUNDARYA K S            (4CA22CS102)                                                                                                                     (Dept of Computer Science)</a:t>
            </a:r>
            <a:endParaRPr lang="en-US" sz="14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 THASHMITHA M H        (4CA22CS109)</a:t>
            </a:r>
            <a:endParaRPr lang="en-US" sz="14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 VARSHINI M U                 (4CA22CS113)</a:t>
            </a:r>
            <a:endParaRPr lang="en-US" sz="14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695" y="2226809"/>
            <a:ext cx="1927905" cy="14743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743" y="2301648"/>
            <a:ext cx="1826078" cy="132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4DAE2-EC91-6053-28AF-BD43257E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8986B-9124-FCB7-07F0-6A64F97B5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35932" y="2677645"/>
            <a:ext cx="5238206" cy="2283824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cs typeface="Times New Roman" panose="02020603050405020304" pitchFamily="18" charset="0"/>
              </a:rPr>
              <a:t>TWO WAY COMMUNICATION SYSTEM FOR DEAF AND DUMB PEOPLE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07CF0B-3750-8E78-DBD8-9FE02B594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14" y="781050"/>
            <a:ext cx="4847303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60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19FA-1FAE-61C2-D430-0BDE210E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252C9-FEE6-C988-3666-517F21A80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105025"/>
            <a:ext cx="8825659" cy="4638675"/>
          </a:xfrm>
        </p:spPr>
        <p:txBody>
          <a:bodyPr>
            <a:normAutofit fontScale="25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48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SNAPSHOTS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39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38B28B-F59C-F1E6-4226-15ED5781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744584"/>
            <a:ext cx="3865134" cy="1097280"/>
          </a:xfrm>
        </p:spPr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598AD-66FB-D338-1DCF-263DCF6F1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8457" y="2312126"/>
            <a:ext cx="4924697" cy="4062547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two-way communication bridge.</a:t>
            </a:r>
          </a:p>
          <a:p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speech ↔ sign language in real time.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speech recognition, NLP,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ANN.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inclusive interaction for deaf users.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FDC12521-5E77-6A55-4A87-50AA03531A8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6895" r="16895"/>
          <a:stretch>
            <a:fillRect/>
          </a:stretch>
        </p:blipFill>
        <p:spPr>
          <a:xfrm>
            <a:off x="6096000" y="1142999"/>
            <a:ext cx="5870575" cy="5365955"/>
          </a:xfrm>
        </p:spPr>
      </p:pic>
    </p:spTree>
    <p:extLst>
      <p:ext uri="{BB962C8B-B14F-4D97-AF65-F5344CB8AC3E}">
        <p14:creationId xmlns:p14="http://schemas.microsoft.com/office/powerpoint/2010/main" val="12547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DE3333-B38E-5785-857E-3C1A9E5E3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6" y="654908"/>
            <a:ext cx="3929449" cy="792892"/>
          </a:xfrm>
        </p:spPr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EE3F2D-ABC7-7E0F-7C6C-B35CC53F1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3695" y="1608438"/>
            <a:ext cx="3929449" cy="4868562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One-way translation only.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sign vocabulary.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costly hardware (gloves/sensors).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real-time and low accuracy.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 tools for speech and gesture.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user experience in real scenarios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98959A-5CBE-6782-3963-D9A3980DD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675" y="1198605"/>
            <a:ext cx="6005384" cy="514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11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375CE8-903F-DF0F-8423-6FEF8C8C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408FC5F8-F803-923D-48F2-81A1EA298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877820"/>
            <a:ext cx="8825659" cy="37319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not widely understood.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one-directional.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gaps in education, healthcare, workplaces.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fast, low-cost, real-time translation.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640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EDA4FC9-6EB5-980F-3AB6-E655A0C2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737420"/>
            <a:ext cx="3865134" cy="1117506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244A19-EE4C-D127-4BA0-DF68F31D9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8595" y="1946366"/>
            <a:ext cx="4975536" cy="373597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bidirectional translation system.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→ Sign via STT + NLP.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→ Text via webcam + ANN.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 real-time, user-friendly interface.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000BDCD9-FAF5-D268-27C2-71AAD48C563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4293" b="4293"/>
          <a:stretch>
            <a:fillRect/>
          </a:stretch>
        </p:blipFill>
        <p:spPr>
          <a:xfrm>
            <a:off x="6096000" y="1143000"/>
            <a:ext cx="5880100" cy="5375275"/>
          </a:xfrm>
        </p:spPr>
      </p:pic>
    </p:spTree>
    <p:extLst>
      <p:ext uri="{BB962C8B-B14F-4D97-AF65-F5344CB8AC3E}">
        <p14:creationId xmlns:p14="http://schemas.microsoft.com/office/powerpoint/2010/main" val="765335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D39878-54C6-B841-6AB1-00A23B144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667266"/>
            <a:ext cx="2793158" cy="1087394"/>
          </a:xfrm>
        </p:spPr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                                  SYSTEM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1849FD7-DA32-B284-F92E-B938300FF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8119" y="1408671"/>
            <a:ext cx="6598508" cy="4942702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6C695E-7715-F1C2-FE8C-DF2094E1B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5481" y="1952369"/>
            <a:ext cx="3978876" cy="4095166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bidirectional: Speech ↔ Sign.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Real-time, high-accuracy processing.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ANN for robust gesture recognition.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Low-cost setup: webcam + microphone.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integrated, user-friendly platform.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education, healthcare, workplaces.</a:t>
            </a:r>
          </a:p>
        </p:txBody>
      </p:sp>
    </p:spTree>
    <p:extLst>
      <p:ext uri="{BB962C8B-B14F-4D97-AF65-F5344CB8AC3E}">
        <p14:creationId xmlns:p14="http://schemas.microsoft.com/office/powerpoint/2010/main" val="4062761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7F76C-0258-C747-AAF7-63A4F86E7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59398"/>
            <a:ext cx="8761413" cy="774550"/>
          </a:xfrm>
        </p:spPr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72D6B7-7B7E-EB75-A601-C8F649C8B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381077"/>
              </p:ext>
            </p:extLst>
          </p:nvPr>
        </p:nvGraphicFramePr>
        <p:xfrm>
          <a:off x="644770" y="2338969"/>
          <a:ext cx="11267145" cy="441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429">
                  <a:extLst>
                    <a:ext uri="{9D8B030D-6E8A-4147-A177-3AD203B41FA5}">
                      <a16:colId xmlns:a16="http://schemas.microsoft.com/office/drawing/2014/main" val="1369284014"/>
                    </a:ext>
                  </a:extLst>
                </a:gridCol>
                <a:gridCol w="2253429">
                  <a:extLst>
                    <a:ext uri="{9D8B030D-6E8A-4147-A177-3AD203B41FA5}">
                      <a16:colId xmlns:a16="http://schemas.microsoft.com/office/drawing/2014/main" val="2468545286"/>
                    </a:ext>
                  </a:extLst>
                </a:gridCol>
                <a:gridCol w="2253429">
                  <a:extLst>
                    <a:ext uri="{9D8B030D-6E8A-4147-A177-3AD203B41FA5}">
                      <a16:colId xmlns:a16="http://schemas.microsoft.com/office/drawing/2014/main" val="4272065988"/>
                    </a:ext>
                  </a:extLst>
                </a:gridCol>
                <a:gridCol w="2253429">
                  <a:extLst>
                    <a:ext uri="{9D8B030D-6E8A-4147-A177-3AD203B41FA5}">
                      <a16:colId xmlns:a16="http://schemas.microsoft.com/office/drawing/2014/main" val="3585453141"/>
                    </a:ext>
                  </a:extLst>
                </a:gridCol>
                <a:gridCol w="2253429">
                  <a:extLst>
                    <a:ext uri="{9D8B030D-6E8A-4147-A177-3AD203B41FA5}">
                      <a16:colId xmlns:a16="http://schemas.microsoft.com/office/drawing/2014/main" val="3395603750"/>
                    </a:ext>
                  </a:extLst>
                </a:gridCol>
              </a:tblGrid>
              <a:tr h="56159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10963"/>
                  </a:ext>
                </a:extLst>
              </a:tr>
              <a:tr h="176501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 Language Translation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. Harini, R. Janani, S. Keerthana ,S . Madhubala, S. Venkatasubramanian (2020).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 real time sign language translator using image processing and machine learning.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edge detection and segmentation for hand gesture extraction. Implemented SVM (Support Vector Machine)for gesture.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mode F1-scoreo its ability t across all being bias particular Weighted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503472"/>
                  </a:ext>
                </a:extLst>
              </a:tr>
              <a:tr h="175993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 Language Translator Using Deep Learning Techniques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Krishna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murthi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I.M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apply deep learning models (CNN and RNN) for sign language recognition 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CNN for feature extraction and LSTM for sequential gesture recognition . Data augmentation.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89%accuracy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015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548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EBC2A7-B939-5819-43FD-FB0EF2902BE7}"/>
              </a:ext>
            </a:extLst>
          </p:cNvPr>
          <p:cNvGraphicFramePr>
            <a:graphicFrameLocks noGrp="1"/>
          </p:cNvGraphicFramePr>
          <p:nvPr/>
        </p:nvGraphicFramePr>
        <p:xfrm>
          <a:off x="234778" y="691978"/>
          <a:ext cx="11565925" cy="5993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498">
                  <a:extLst>
                    <a:ext uri="{9D8B030D-6E8A-4147-A177-3AD203B41FA5}">
                      <a16:colId xmlns:a16="http://schemas.microsoft.com/office/drawing/2014/main" val="2224641228"/>
                    </a:ext>
                  </a:extLst>
                </a:gridCol>
                <a:gridCol w="2298357">
                  <a:extLst>
                    <a:ext uri="{9D8B030D-6E8A-4147-A177-3AD203B41FA5}">
                      <a16:colId xmlns:a16="http://schemas.microsoft.com/office/drawing/2014/main" val="1462094421"/>
                    </a:ext>
                  </a:extLst>
                </a:gridCol>
                <a:gridCol w="2298357">
                  <a:extLst>
                    <a:ext uri="{9D8B030D-6E8A-4147-A177-3AD203B41FA5}">
                      <a16:colId xmlns:a16="http://schemas.microsoft.com/office/drawing/2014/main" val="3945173600"/>
                    </a:ext>
                  </a:extLst>
                </a:gridCol>
                <a:gridCol w="2298357">
                  <a:extLst>
                    <a:ext uri="{9D8B030D-6E8A-4147-A177-3AD203B41FA5}">
                      <a16:colId xmlns:a16="http://schemas.microsoft.com/office/drawing/2014/main" val="1343995898"/>
                    </a:ext>
                  </a:extLst>
                </a:gridCol>
                <a:gridCol w="2298356">
                  <a:extLst>
                    <a:ext uri="{9D8B030D-6E8A-4147-A177-3AD203B41FA5}">
                      <a16:colId xmlns:a16="http://schemas.microsoft.com/office/drawing/2014/main" val="2911961691"/>
                    </a:ext>
                  </a:extLst>
                </a:gridCol>
              </a:tblGrid>
              <a:tr h="2016133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Time Sign Language Translation Systems : A</a:t>
                      </a:r>
                      <a:endParaRPr lang="en-IN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Papatsimouli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(2022)</a:t>
                      </a:r>
                      <a:endParaRPr lang="en-IN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review real-time sign language translation</a:t>
                      </a:r>
                      <a:endParaRPr lang="en-IN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vision-based(CNN, RNN)and sensor-based</a:t>
                      </a:r>
                      <a:endParaRPr lang="en-IN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review signs with 88% in recovery.</a:t>
                      </a:r>
                      <a:endParaRPr lang="en-IN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934784"/>
                  </a:ext>
                </a:extLst>
              </a:tr>
              <a:tr h="198844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for Helping Disabled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Mia, R. Hassan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 language recognition system for mobile applications.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SVM for classification. Integrated with mobile devices for real-time processing.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13488"/>
                  </a:ext>
                </a:extLst>
              </a:tr>
              <a:tr h="198844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Novel Machine Learning-Based Two-Way Communication System for Deaf and Mute.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M.I .Saleem ,A. Siddiqui, S. Noor , M.-A .Luque - Nieto, P. Otero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 two  way communication system for the deaf and mute community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CNN for static sign recognition and LSTM for sequential gesture classificatio</a:t>
                      </a:r>
                      <a:r>
                        <a:rPr lang="en-US" dirty="0"/>
                        <a:t>n.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is between due to var gestures people.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326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518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554466-1804-18E9-F066-13A5A37E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 AND HARDWARE REQUIREMENTS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41A3E-51C5-4A1A-37E3-4745214DC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0F7D4-B3FA-9B14-1C11-F9D61454B8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: Intel i3 3.30 GHz.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: 40 GB (min)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: 4GB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458BB5-C5CE-854B-3BE6-7238933FC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3C1FE6-1B95-8D1A-31A8-51D8563D059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: Windows 7 and above.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Language : Python.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: Django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 : HTML,CSS,JAVASCRIPT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 : MYSQL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306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F258BD-58DF-DCF4-68FF-B4BA80A5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dirty="0"/>
          </a:p>
        </p:txBody>
      </p:sp>
      <p:pic>
        <p:nvPicPr>
          <p:cNvPr id="9" name="Content Placeholder 3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4FDA518D-1BB8-704D-A4AA-A65C86415C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24743" y="2603500"/>
            <a:ext cx="7891623" cy="409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47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B908-48EE-1605-1098-85BFDA6F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/>
          </a:p>
        </p:txBody>
      </p:sp>
      <p:pic>
        <p:nvPicPr>
          <p:cNvPr id="4" name="Content Placeholder 5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2A5E39F1-614B-B7EF-C901-19197C690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2390503"/>
            <a:ext cx="9530463" cy="425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8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8097-9188-23D7-D5F9-DCB2CF0C0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948954"/>
            <a:ext cx="8761413" cy="70696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AC14C-2FA9-D003-35E6-3E21BC6CD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Speech-to-Sign: Audio capture, STT, NLP, ASL animation.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Sign-to-Text: </a:t>
            </a:r>
            <a:r>
              <a:rPr lang="en-IN" dirty="0" err="1"/>
              <a:t>MediaPipe</a:t>
            </a:r>
            <a:r>
              <a:rPr lang="en-IN" dirty="0"/>
              <a:t> landmarks, ANN gesture recognition.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UI Module: Module switching, output display.</a:t>
            </a:r>
          </a:p>
        </p:txBody>
      </p:sp>
    </p:spTree>
    <p:extLst>
      <p:ext uri="{BB962C8B-B14F-4D97-AF65-F5344CB8AC3E}">
        <p14:creationId xmlns:p14="http://schemas.microsoft.com/office/powerpoint/2010/main" val="1256812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48BD-5717-2958-9D81-56B41D02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521" y="830943"/>
            <a:ext cx="8825659" cy="70696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IMPLEMENTATIONS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44143-89CD-389D-8D5D-64018DF5B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Speech-to-Sign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2AB04-A067-4BA4-15B5-FDF9E6A63C16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Audio capture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Speech-to-text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NLP cleanup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Gesture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ASL animation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B5197-392E-A581-3166-EA615DB15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Sign-to-Text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D0075E-9302-8D52-6FE8-9AA9CD958AEB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Webcam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Hand landmarks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ANN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Text output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5922F7-751A-27DA-9265-F37371053B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System Integration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E0318D-FCE8-2DB7-D1DA-1E7BE7F2E1EF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Real-time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Lightweight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Simple unified UI</a:t>
            </a:r>
          </a:p>
        </p:txBody>
      </p:sp>
    </p:spTree>
    <p:extLst>
      <p:ext uri="{BB962C8B-B14F-4D97-AF65-F5344CB8AC3E}">
        <p14:creationId xmlns:p14="http://schemas.microsoft.com/office/powerpoint/2010/main" val="3828829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3784-A49B-B7BA-AB52-DD5305B7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SYSTEM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46216-E455-F583-2F38-37B6DA32C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tests: STT ↔ NLP,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↔ ANN.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validationUnit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tests on NLP, preprocessing, mapping.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Integration.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Latency, accuracy, and robustness checks.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916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F4FF-2946-0BCB-229C-FE62A941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177EA-7A4F-DD51-7474-F4179901B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3979B9-4696-DE1F-75E9-A2D3C16AC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Home</a:t>
            </a:r>
          </a:p>
        </p:txBody>
      </p:sp>
      <p:pic>
        <p:nvPicPr>
          <p:cNvPr id="12" name="Content Placeholder 11" descr="A screenshot of a login box&#10;&#10;AI-generated content may be incorrect.">
            <a:extLst>
              <a:ext uri="{FF2B5EF4-FFF2-40B4-BE49-F238E27FC236}">
                <a16:creationId xmlns:a16="http://schemas.microsoft.com/office/drawing/2014/main" id="{040829EA-8D20-993A-2E1D-D5B1B6BD6D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55700" y="3426276"/>
            <a:ext cx="4824413" cy="2347011"/>
          </a:xfrm>
        </p:spPr>
      </p:pic>
      <p:pic>
        <p:nvPicPr>
          <p:cNvPr id="18" name="Content Placeholder 17" descr="A person saluting with his hand&#10;&#10;AI-generated content may be incorrect.">
            <a:extLst>
              <a:ext uri="{FF2B5EF4-FFF2-40B4-BE49-F238E27FC236}">
                <a16:creationId xmlns:a16="http://schemas.microsoft.com/office/drawing/2014/main" id="{5DAC4A17-869D-D7CA-9E50-FD7AA1F8184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08713" y="3427916"/>
            <a:ext cx="4824412" cy="2343730"/>
          </a:xfrm>
        </p:spPr>
      </p:pic>
    </p:spTree>
    <p:extLst>
      <p:ext uri="{BB962C8B-B14F-4D97-AF65-F5344CB8AC3E}">
        <p14:creationId xmlns:p14="http://schemas.microsoft.com/office/powerpoint/2010/main" val="1293361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23C2-99D7-0AB3-FFC5-17D9E1E5D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BE86E-2E09-678B-A82B-E807A9B06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Contact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FC82A6-2454-9E1B-09C5-7C31E1169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About</a:t>
            </a:r>
          </a:p>
        </p:txBody>
      </p:sp>
      <p:pic>
        <p:nvPicPr>
          <p:cNvPr id="14" name="Content Placeholder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CF402E-624C-3BC7-97F8-EF1A8446558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08713" y="3427916"/>
            <a:ext cx="4824412" cy="2343730"/>
          </a:xfrm>
        </p:spPr>
      </p:pic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C07D6B-613D-1D06-4FBD-39F8AFEEE0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1155700" y="3420860"/>
            <a:ext cx="4824413" cy="2357842"/>
          </a:xfrm>
        </p:spPr>
      </p:pic>
    </p:spTree>
    <p:extLst>
      <p:ext uri="{BB962C8B-B14F-4D97-AF65-F5344CB8AC3E}">
        <p14:creationId xmlns:p14="http://schemas.microsoft.com/office/powerpoint/2010/main" val="379686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CA94-A7F2-868E-ECD4-5C4C4B925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905" y="986025"/>
            <a:ext cx="8761413" cy="70696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C5CAB-2CDD-02A9-66C1-FCA63BA38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Classrooms &amp; learning support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&amp; emergency communication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service kiosks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Workplaces &amp; corporate accessibility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assistive communication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747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8E926-5313-DDC1-935A-A011D2FC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61312"/>
            <a:ext cx="8761413" cy="70696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435EB-0989-629E-7C82-3B17DF3A1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cost-efficient, real-time, and inclusive two-way communication system.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communication gaps using modern AI technologies.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platform with significant social impact potential.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208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399CB-B1A5-891F-7B11-8A0E38BAA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589" y="961312"/>
            <a:ext cx="8761413" cy="70696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ECDD4-FB9B-8B29-8D8C-8976A1EA4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gesture recognition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 (ISL, regional languages)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integration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avatar-based sign animations</a:t>
            </a:r>
          </a:p>
        </p:txBody>
      </p:sp>
    </p:spTree>
    <p:extLst>
      <p:ext uri="{BB962C8B-B14F-4D97-AF65-F5344CB8AC3E}">
        <p14:creationId xmlns:p14="http://schemas.microsoft.com/office/powerpoint/2010/main" val="1789464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B6528-5849-A970-1EBE-0040934D7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9" y="1074122"/>
            <a:ext cx="8825658" cy="2677648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0014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851</TotalTime>
  <Words>798</Words>
  <Application>Microsoft Office PowerPoint</Application>
  <PresentationFormat>Widescreen</PresentationFormat>
  <Paragraphs>189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Cambria Math</vt:lpstr>
      <vt:lpstr>Century Gothic</vt:lpstr>
      <vt:lpstr>Poppins Light</vt:lpstr>
      <vt:lpstr>Sitka Display</vt:lpstr>
      <vt:lpstr>Times New Roman</vt:lpstr>
      <vt:lpstr>Wingdings</vt:lpstr>
      <vt:lpstr>Wingdings 3</vt:lpstr>
      <vt:lpstr>Ion Boardroom</vt:lpstr>
      <vt:lpstr>VISVESVARAYA TECHNOLOGICAL UNIVERSITY JNANASANGAMA, BELAGAVI  CAUVERY INSTITUTE OF TECHNOLOGY, MANDYA  </vt:lpstr>
      <vt:lpstr>PowerPoint Presentation</vt:lpstr>
      <vt:lpstr>TABLE OF CONTENTS</vt:lpstr>
      <vt:lpstr>INTRODUCTION</vt:lpstr>
      <vt:lpstr>EXISTING SYSTEM</vt:lpstr>
      <vt:lpstr>PROBLEM STATEMENT</vt:lpstr>
      <vt:lpstr>OBJECTIVE</vt:lpstr>
      <vt:lpstr>PROPOSED                                   SYSTEM</vt:lpstr>
      <vt:lpstr>LITERATURE SURVEY</vt:lpstr>
      <vt:lpstr>PowerPoint Presentation</vt:lpstr>
      <vt:lpstr>SOFTWARE  AND HARDWARE REQUIREMENTS</vt:lpstr>
      <vt:lpstr>USE CASE DIAGRAM</vt:lpstr>
      <vt:lpstr>SYSTEM ARCHITECTURE</vt:lpstr>
      <vt:lpstr>MODULES</vt:lpstr>
      <vt:lpstr>IMPLEMENTATIONS STEPS</vt:lpstr>
      <vt:lpstr>SYSTEM TESTING</vt:lpstr>
      <vt:lpstr>SNAPSHOTS</vt:lpstr>
      <vt:lpstr>Page</vt:lpstr>
      <vt:lpstr>APPLICATIONS</vt:lpstr>
      <vt:lpstr>CONCLUSION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VISVESVARAYA TECHNOLOGICAL UNIVERSITY JNANASANGAMA, BELAGAVI  CAUVERY INSTITUTE OF TECHNOLOGY, MANDYA</dc:title>
  <dc:creator>sinchana0913@gmail.com</dc:creator>
  <cp:lastModifiedBy>sinchana0913@gmail.com</cp:lastModifiedBy>
  <cp:revision>42</cp:revision>
  <dcterms:created xsi:type="dcterms:W3CDTF">2025-09-04T12:20:55Z</dcterms:created>
  <dcterms:modified xsi:type="dcterms:W3CDTF">2026-01-08T15:09:02Z</dcterms:modified>
</cp:coreProperties>
</file>